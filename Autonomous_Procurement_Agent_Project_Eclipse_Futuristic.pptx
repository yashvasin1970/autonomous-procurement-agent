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TURE">
    <p:bg>
      <p:bgPr>
        <a:solidFill>
          <a:srgbClr val="0611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984248"/>
            <a:ext cx="2834640" cy="2834640"/>
          </a:xfrm>
          <a:prstGeom prst="ellipse">
            <a:avLst/>
          </a:prstGeom>
          <a:solidFill>
            <a:srgbClr val="957BFF">
              <a:alpha val="6000"/>
            </a:srgbClr>
          </a:solidFill>
          <a:ln w="6350">
            <a:solidFill>
              <a:srgbClr val="957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14232" y="2377440"/>
            <a:ext cx="2048256" cy="2048256"/>
          </a:xfrm>
          <a:prstGeom prst="ellipse">
            <a:avLst/>
          </a:prstGeom>
          <a:solidFill>
            <a:srgbClr val="38F2FF">
              <a:alpha val="5000"/>
            </a:srgbClr>
          </a:solidFill>
          <a:ln w="7620">
            <a:solidFill>
              <a:srgbClr val="38F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71432" y="2834640"/>
            <a:ext cx="1133856" cy="1133856"/>
          </a:xfrm>
          <a:prstGeom prst="ellipse">
            <a:avLst/>
          </a:prstGeom>
          <a:solidFill>
            <a:srgbClr val="57A8FF">
              <a:alpha val="5000"/>
            </a:srgbClr>
          </a:solidFill>
          <a:ln w="7620">
            <a:solidFill>
              <a:srgbClr val="57A8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19488" y="3282696"/>
            <a:ext cx="237744" cy="237744"/>
          </a:xfrm>
          <a:prstGeom prst="ellipse">
            <a:avLst/>
          </a:prstGeom>
          <a:solidFill>
            <a:srgbClr val="38F2FF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62004" y="3369564"/>
            <a:ext cx="64008" cy="6400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47787" y="4048471"/>
            <a:ext cx="64008" cy="64008"/>
          </a:xfrm>
          <a:prstGeom prst="ellipse">
            <a:avLst/>
          </a:prstGeom>
          <a:solidFill>
            <a:srgbClr val="957BFF"/>
          </a:solidFill>
          <a:ln w="10160">
            <a:solidFill>
              <a:srgbClr val="957B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06356" y="4329684"/>
            <a:ext cx="64008" cy="6400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64925" y="4048471"/>
            <a:ext cx="64008" cy="64008"/>
          </a:xfrm>
          <a:prstGeom prst="ellipse">
            <a:avLst/>
          </a:prstGeom>
          <a:solidFill>
            <a:srgbClr val="FF64D4"/>
          </a:solidFill>
          <a:ln w="10160">
            <a:solidFill>
              <a:srgbClr val="FF64D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0708" y="3369564"/>
            <a:ext cx="64008" cy="6400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64925" y="2690657"/>
            <a:ext cx="64008" cy="64008"/>
          </a:xfrm>
          <a:prstGeom prst="ellipse">
            <a:avLst/>
          </a:prstGeom>
          <a:solidFill>
            <a:srgbClr val="957BFF"/>
          </a:solidFill>
          <a:ln w="10160">
            <a:solidFill>
              <a:srgbClr val="957B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06356" y="2409444"/>
            <a:ext cx="64008" cy="6400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47787" y="2690657"/>
            <a:ext cx="64008" cy="64008"/>
          </a:xfrm>
          <a:prstGeom prst="ellipse">
            <a:avLst/>
          </a:prstGeom>
          <a:solidFill>
            <a:srgbClr val="FF64D4"/>
          </a:solidFill>
          <a:ln w="10160">
            <a:solidFill>
              <a:srgbClr val="FF64D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09560" y="3401568"/>
            <a:ext cx="3703320" cy="0"/>
          </a:xfrm>
          <a:prstGeom prst="line">
            <a:avLst/>
          </a:prstGeom>
          <a:noFill/>
          <a:ln w="8890">
            <a:solidFill>
              <a:srgbClr val="38F2FF">
                <a:alpha val="3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738360" y="1645920"/>
            <a:ext cx="0" cy="3520440"/>
          </a:xfrm>
          <a:prstGeom prst="line">
            <a:avLst/>
          </a:prstGeom>
          <a:noFill/>
          <a:ln w="8890">
            <a:solidFill>
              <a:srgbClr val="957BFF">
                <a:alpha val="28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36576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6868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37160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87452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237744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288036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38328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388620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38912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489204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539496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89788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40080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6903720" y="502920"/>
            <a:ext cx="0" cy="553212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320040" y="64008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320040" y="114300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320040" y="164592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320040" y="214884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320040" y="265176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320040" y="315468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20040" y="365760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320040" y="416052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320040" y="466344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320040" y="516636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320040" y="5669280"/>
            <a:ext cx="6766560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6928" y="475488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512064"/>
            <a:ext cx="2551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566928" y="1353312"/>
            <a:ext cx="6400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AUTONOMOUS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REQUIREMENT-TO-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QUOTATION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585216" y="4005072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that turns a purchase request into a compliant, evidence-backed vendor recommendation — with humans in control of consequential decisions.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03720" y="5230368"/>
            <a:ext cx="987552" cy="603504"/>
          </a:xfrm>
          <a:prstGeom prst="roundRect">
            <a:avLst>
              <a:gd name="adj" fmla="val 15152"/>
            </a:avLst>
          </a:prstGeom>
          <a:solidFill>
            <a:srgbClr val="0A1A27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76872" y="53126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976872" y="5486400"/>
            <a:ext cx="768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7891272" y="5522976"/>
            <a:ext cx="155448" cy="0"/>
          </a:xfrm>
          <a:prstGeom prst="line">
            <a:avLst/>
          </a:prstGeom>
          <a:noFill/>
          <a:ln w="1524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065008" y="5230368"/>
            <a:ext cx="987552" cy="603504"/>
          </a:xfrm>
          <a:prstGeom prst="roundRect">
            <a:avLst>
              <a:gd name="adj" fmla="val 15152"/>
            </a:avLst>
          </a:prstGeom>
          <a:solidFill>
            <a:srgbClr val="0A1A27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3126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138160" y="5486400"/>
            <a:ext cx="768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9052560" y="5522976"/>
            <a:ext cx="155448" cy="0"/>
          </a:xfrm>
          <a:prstGeom prst="line">
            <a:avLst/>
          </a:prstGeom>
          <a:noFill/>
          <a:ln w="15240">
            <a:solidFill>
              <a:srgbClr val="57A8FF"/>
            </a:solidFill>
            <a:prstDash val="solid"/>
            <a:headEnd type="none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9226296" y="5230368"/>
            <a:ext cx="987552" cy="603504"/>
          </a:xfrm>
          <a:prstGeom prst="roundRect">
            <a:avLst>
              <a:gd name="adj" fmla="val 15152"/>
            </a:avLst>
          </a:prstGeom>
          <a:solidFill>
            <a:srgbClr val="0A1A27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99448" y="53126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299448" y="5486400"/>
            <a:ext cx="768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10213848" y="5522976"/>
            <a:ext cx="155448" cy="0"/>
          </a:xfrm>
          <a:prstGeom prst="line">
            <a:avLst/>
          </a:prstGeom>
          <a:noFill/>
          <a:ln w="15240">
            <a:solidFill>
              <a:srgbClr val="957BFF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0387584" y="5230368"/>
            <a:ext cx="987552" cy="603504"/>
          </a:xfrm>
          <a:prstGeom prst="roundRect">
            <a:avLst>
              <a:gd name="adj" fmla="val 15152"/>
            </a:avLst>
          </a:prstGeom>
          <a:solidFill>
            <a:srgbClr val="0A1A27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460736" y="5312664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10460736" y="5486400"/>
            <a:ext cx="768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840" dirty="0"/>
          </a:p>
        </p:txBody>
      </p:sp>
      <p:sp>
        <p:nvSpPr>
          <p:cNvPr id="61" name="Text 59"/>
          <p:cNvSpPr/>
          <p:nvPr/>
        </p:nvSpPr>
        <p:spPr>
          <a:xfrm>
            <a:off x="585216" y="6126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11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 IDEA SUBMISSION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8229600" y="612648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1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• AGENTS • AUTOMATION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7101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465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219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17296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484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239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99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5504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25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013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768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9278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4033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788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3052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07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7317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7040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11795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165506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213055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30815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355701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403250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545896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593445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64099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47472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93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56848" y="3840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8890">
            <a:solidFill>
              <a:srgbClr val="19394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0352" y="65379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PROCUREMENT 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6384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→ QUOTATION → DECISION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8778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procurement problem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530352" y="13990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Today, quotation comparison is fragmented, manual, and easy to get wrong.</a:t>
            </a:r>
            <a:endParaRPr lang="en-US" sz="1230" dirty="0"/>
          </a:p>
        </p:txBody>
      </p:sp>
      <p:sp>
        <p:nvSpPr>
          <p:cNvPr id="50" name="Shape 48"/>
          <p:cNvSpPr/>
          <p:nvPr/>
        </p:nvSpPr>
        <p:spPr>
          <a:xfrm>
            <a:off x="530352" y="1874520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30352" y="1874520"/>
            <a:ext cx="54864" cy="1965960"/>
          </a:xfrm>
          <a:prstGeom prst="roundRect">
            <a:avLst>
              <a:gd name="adj" fmla="val 33333"/>
            </a:avLst>
          </a:prstGeom>
          <a:solidFill>
            <a:srgbClr val="38F2FF"/>
          </a:solidFill>
          <a:ln w="1270">
            <a:solidFill>
              <a:srgbClr val="38F2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REQUIREMENTS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13232" y="2377440"/>
            <a:ext cx="30815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Requirements live in plain language, emails, PDFs, spreadsheets, or chats.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70832" y="1874520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70832" y="1874520"/>
            <a:ext cx="54864" cy="1965960"/>
          </a:xfrm>
          <a:prstGeom prst="roundRect">
            <a:avLst>
              <a:gd name="adj" fmla="val 33333"/>
            </a:avLst>
          </a:prstGeom>
          <a:solidFill>
            <a:srgbClr val="957BFF"/>
          </a:solidFill>
          <a:ln w="1270">
            <a:solidFill>
              <a:srgbClr val="957B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53712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QUOTATIONS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553712" y="2377440"/>
            <a:ext cx="30815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Vendors send different formats and different levels of detail.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211312" y="1874520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211312" y="1874520"/>
            <a:ext cx="54864" cy="1965960"/>
          </a:xfrm>
          <a:prstGeom prst="roundRect">
            <a:avLst>
              <a:gd name="adj" fmla="val 33333"/>
            </a:avLst>
          </a:prstGeom>
          <a:solidFill>
            <a:srgbClr val="FF64D4"/>
          </a:solidFill>
          <a:ln w="1270">
            <a:solidFill>
              <a:srgbClr val="FF64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94192" y="2039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DECISION RISK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394192" y="2377440"/>
            <a:ext cx="308152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“cheapest” quote may violate specs, budget, warranty, or delivery needs.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0352" y="4187952"/>
            <a:ext cx="11109960" cy="1234440"/>
          </a:xfrm>
          <a:prstGeom prst="roundRect">
            <a:avLst>
              <a:gd name="adj" fmla="val 11852"/>
            </a:avLst>
          </a:prstGeom>
          <a:solidFill>
            <a:srgbClr val="0D2232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8952" y="440740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FF64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2104" y="4443984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FF6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QUESTION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2212848" y="4370832"/>
            <a:ext cx="5120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“Which quotation actually satisfies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asked for?”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424928" y="4425696"/>
            <a:ext cx="3611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turn that question into an explainable, auditable agent workflow.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66928" y="568756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9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SHIFT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1664208" y="5641848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FROM: spreadsheet checking  →  TO: AI-guided, evidence-backed procurement decision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7101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465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219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17296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484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239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99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5504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25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013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768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9278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4033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788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3052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07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7317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7040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11795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165506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213055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30815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355701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403250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545896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593445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64099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47472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93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56848" y="3840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8890">
            <a:solidFill>
              <a:srgbClr val="19394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0352" y="65379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PROCUREMENT 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6384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→ QUOTATION → DECISION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8778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solution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530352" y="13990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agent, six reasoning stages, one human-approved recommendation.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30352" y="1938528"/>
            <a:ext cx="1572768" cy="1572768"/>
          </a:xfrm>
          <a:prstGeom prst="roundRect">
            <a:avLst>
              <a:gd name="adj" fmla="val 8140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0080" y="2048256"/>
            <a:ext cx="292608" cy="29260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4984" y="20391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60" dirty="0"/>
          </a:p>
        </p:txBody>
      </p:sp>
      <p:sp>
        <p:nvSpPr>
          <p:cNvPr id="53" name="Text 51"/>
          <p:cNvSpPr/>
          <p:nvPr/>
        </p:nvSpPr>
        <p:spPr>
          <a:xfrm>
            <a:off x="694944" y="24323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694944" y="29077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what is mandatory.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2103120" y="2724912"/>
            <a:ext cx="256032" cy="0"/>
          </a:xfrm>
          <a:prstGeom prst="line">
            <a:avLst/>
          </a:prstGeom>
          <a:noFill/>
          <a:ln w="1397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386584" y="1938528"/>
            <a:ext cx="1572768" cy="1572768"/>
          </a:xfrm>
          <a:prstGeom prst="roundRect">
            <a:avLst>
              <a:gd name="adj" fmla="val 8140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96312" y="2048256"/>
            <a:ext cx="292608" cy="292608"/>
          </a:xfrm>
          <a:prstGeom prst="ellipse">
            <a:avLst/>
          </a:prstGeom>
          <a:solidFill>
            <a:srgbClr val="57A8FF"/>
          </a:solidFill>
          <a:ln w="1016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871216" y="20391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57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60" dirty="0"/>
          </a:p>
        </p:txBody>
      </p:sp>
      <p:sp>
        <p:nvSpPr>
          <p:cNvPr id="59" name="Text 57"/>
          <p:cNvSpPr/>
          <p:nvPr/>
        </p:nvSpPr>
        <p:spPr>
          <a:xfrm>
            <a:off x="2551176" y="24323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2551176" y="29077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quotes, PDFs &amp; emails.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3959352" y="2724912"/>
            <a:ext cx="256032" cy="0"/>
          </a:xfrm>
          <a:prstGeom prst="line">
            <a:avLst/>
          </a:prstGeom>
          <a:noFill/>
          <a:ln w="13970">
            <a:solidFill>
              <a:srgbClr val="57A8FF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242816" y="1938528"/>
            <a:ext cx="1572768" cy="1572768"/>
          </a:xfrm>
          <a:prstGeom prst="roundRect">
            <a:avLst>
              <a:gd name="adj" fmla="val 8140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52544" y="2048256"/>
            <a:ext cx="292608" cy="292608"/>
          </a:xfrm>
          <a:prstGeom prst="ellipse">
            <a:avLst/>
          </a:prstGeom>
          <a:solidFill>
            <a:srgbClr val="957BFF"/>
          </a:solidFill>
          <a:ln w="10160">
            <a:solidFill>
              <a:srgbClr val="957B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27448" y="20391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60" dirty="0"/>
          </a:p>
        </p:txBody>
      </p:sp>
      <p:sp>
        <p:nvSpPr>
          <p:cNvPr id="65" name="Text 63"/>
          <p:cNvSpPr/>
          <p:nvPr/>
        </p:nvSpPr>
        <p:spPr>
          <a:xfrm>
            <a:off x="4407408" y="24323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</a:t>
            </a:r>
            <a:endParaRPr lang="en-US" sz="920" dirty="0"/>
          </a:p>
        </p:txBody>
      </p:sp>
      <p:sp>
        <p:nvSpPr>
          <p:cNvPr id="66" name="Text 64"/>
          <p:cNvSpPr/>
          <p:nvPr/>
        </p:nvSpPr>
        <p:spPr>
          <a:xfrm>
            <a:off x="4407408" y="29077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specs into a common schema.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5815584" y="2724912"/>
            <a:ext cx="256032" cy="0"/>
          </a:xfrm>
          <a:prstGeom prst="line">
            <a:avLst/>
          </a:prstGeom>
          <a:noFill/>
          <a:ln w="13970">
            <a:solidFill>
              <a:srgbClr val="957BFF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099048" y="1938528"/>
            <a:ext cx="1572768" cy="1572768"/>
          </a:xfrm>
          <a:prstGeom prst="roundRect">
            <a:avLst>
              <a:gd name="adj" fmla="val 8140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08776" y="2048256"/>
            <a:ext cx="292608" cy="292608"/>
          </a:xfrm>
          <a:prstGeom prst="ellipse">
            <a:avLst/>
          </a:prstGeom>
          <a:solidFill>
            <a:srgbClr val="FF64D4"/>
          </a:solidFill>
          <a:ln w="10160">
            <a:solidFill>
              <a:srgbClr val="FF64D4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20391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6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60" dirty="0"/>
          </a:p>
        </p:txBody>
      </p:sp>
      <p:sp>
        <p:nvSpPr>
          <p:cNvPr id="71" name="Text 69"/>
          <p:cNvSpPr/>
          <p:nvPr/>
        </p:nvSpPr>
        <p:spPr>
          <a:xfrm>
            <a:off x="6263640" y="24323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6263640" y="29077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must-have rules first.</a:t>
            </a:r>
            <a:endParaRPr lang="en-US" sz="880" dirty="0"/>
          </a:p>
        </p:txBody>
      </p:sp>
      <p:sp>
        <p:nvSpPr>
          <p:cNvPr id="73" name="Shape 71"/>
          <p:cNvSpPr/>
          <p:nvPr/>
        </p:nvSpPr>
        <p:spPr>
          <a:xfrm>
            <a:off x="7671816" y="2724912"/>
            <a:ext cx="256032" cy="0"/>
          </a:xfrm>
          <a:prstGeom prst="line">
            <a:avLst/>
          </a:prstGeom>
          <a:noFill/>
          <a:ln w="13970">
            <a:solidFill>
              <a:srgbClr val="FF64D4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955280" y="1938528"/>
            <a:ext cx="1572768" cy="1572768"/>
          </a:xfrm>
          <a:prstGeom prst="roundRect">
            <a:avLst>
              <a:gd name="adj" fmla="val 8140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65008" y="2048256"/>
            <a:ext cx="292608" cy="292608"/>
          </a:xfrm>
          <a:prstGeom prst="ellipse">
            <a:avLst/>
          </a:prstGeom>
          <a:solidFill>
            <a:srgbClr val="FFB35E"/>
          </a:solidFill>
          <a:ln w="10160">
            <a:solidFill>
              <a:srgbClr val="FFB35E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39912" y="20391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FFB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60" dirty="0"/>
          </a:p>
        </p:txBody>
      </p:sp>
      <p:sp>
        <p:nvSpPr>
          <p:cNvPr id="77" name="Text 75"/>
          <p:cNvSpPr/>
          <p:nvPr/>
        </p:nvSpPr>
        <p:spPr>
          <a:xfrm>
            <a:off x="8119872" y="24323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</a:t>
            </a:r>
            <a:endParaRPr lang="en-US" sz="920" dirty="0"/>
          </a:p>
        </p:txBody>
      </p:sp>
      <p:sp>
        <p:nvSpPr>
          <p:cNvPr id="78" name="Text 76"/>
          <p:cNvSpPr/>
          <p:nvPr/>
        </p:nvSpPr>
        <p:spPr>
          <a:xfrm>
            <a:off x="8119872" y="29077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price + trade-offs.</a:t>
            </a:r>
            <a:endParaRPr lang="en-US" sz="880" dirty="0"/>
          </a:p>
        </p:txBody>
      </p:sp>
      <p:sp>
        <p:nvSpPr>
          <p:cNvPr id="79" name="Shape 77"/>
          <p:cNvSpPr/>
          <p:nvPr/>
        </p:nvSpPr>
        <p:spPr>
          <a:xfrm>
            <a:off x="9528048" y="2724912"/>
            <a:ext cx="256032" cy="0"/>
          </a:xfrm>
          <a:prstGeom prst="line">
            <a:avLst/>
          </a:prstGeom>
          <a:noFill/>
          <a:ln w="13970">
            <a:solidFill>
              <a:srgbClr val="FFB35E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9811512" y="1938528"/>
            <a:ext cx="1572768" cy="1572768"/>
          </a:xfrm>
          <a:prstGeom prst="roundRect">
            <a:avLst>
              <a:gd name="adj" fmla="val 8140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921240" y="2048256"/>
            <a:ext cx="292608" cy="29260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296144" y="203911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60" dirty="0"/>
          </a:p>
        </p:txBody>
      </p:sp>
      <p:sp>
        <p:nvSpPr>
          <p:cNvPr id="83" name="Text 81"/>
          <p:cNvSpPr/>
          <p:nvPr/>
        </p:nvSpPr>
        <p:spPr>
          <a:xfrm>
            <a:off x="9976104" y="2432304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</a:t>
            </a:r>
            <a:endParaRPr lang="en-US" sz="920" dirty="0"/>
          </a:p>
        </p:txBody>
      </p:sp>
      <p:sp>
        <p:nvSpPr>
          <p:cNvPr id="84" name="Text 82"/>
          <p:cNvSpPr/>
          <p:nvPr/>
        </p:nvSpPr>
        <p:spPr>
          <a:xfrm>
            <a:off x="9976104" y="2907792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/ why not.</a:t>
            </a:r>
            <a:endParaRPr lang="en-US" sz="880" dirty="0"/>
          </a:p>
        </p:txBody>
      </p:sp>
      <p:sp>
        <p:nvSpPr>
          <p:cNvPr id="85" name="Shape 83"/>
          <p:cNvSpPr/>
          <p:nvPr/>
        </p:nvSpPr>
        <p:spPr>
          <a:xfrm>
            <a:off x="530352" y="3977640"/>
            <a:ext cx="11109960" cy="1298448"/>
          </a:xfrm>
          <a:prstGeom prst="roundRect">
            <a:avLst>
              <a:gd name="adj" fmla="val 9859"/>
            </a:avLst>
          </a:prstGeom>
          <a:solidFill>
            <a:srgbClr val="0D2232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49808" y="4224528"/>
            <a:ext cx="1481328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2960" y="426110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PRINCIPLE</a:t>
            </a:r>
            <a:endParaRPr lang="en-US" sz="820" dirty="0"/>
          </a:p>
        </p:txBody>
      </p:sp>
      <p:sp>
        <p:nvSpPr>
          <p:cNvPr id="88" name="Text 86"/>
          <p:cNvSpPr/>
          <p:nvPr/>
        </p:nvSpPr>
        <p:spPr>
          <a:xfrm>
            <a:off x="2487168" y="4160520"/>
            <a:ext cx="6903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does not make a “lowest-price” choice.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first proves which quotes satisfy the requirement, then compares the remaining trade-offs.</a:t>
            </a:r>
            <a:endParaRPr lang="en-US" sz="1400" dirty="0"/>
          </a:p>
        </p:txBody>
      </p:sp>
      <p:sp>
        <p:nvSpPr>
          <p:cNvPr id="89" name="Shape 87"/>
          <p:cNvSpPr/>
          <p:nvPr/>
        </p:nvSpPr>
        <p:spPr>
          <a:xfrm>
            <a:off x="9692640" y="4187952"/>
            <a:ext cx="1700784" cy="694944"/>
          </a:xfrm>
          <a:prstGeom prst="roundRect">
            <a:avLst>
              <a:gd name="adj" fmla="val 13158"/>
            </a:avLst>
          </a:prstGeom>
          <a:solidFill>
            <a:srgbClr val="06111A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820656" y="4261104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APPROVAL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811512" y="4480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action stays under human control.</a:t>
            </a:r>
            <a:endParaRPr lang="en-US" sz="780" dirty="0"/>
          </a:p>
        </p:txBody>
      </p:sp>
      <p:sp>
        <p:nvSpPr>
          <p:cNvPr id="92" name="Text 90"/>
          <p:cNvSpPr/>
          <p:nvPr/>
        </p:nvSpPr>
        <p:spPr>
          <a:xfrm>
            <a:off x="566928" y="576072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End-to-end: requirement → evidence → recommendation → approval.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7101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465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219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17296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484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239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99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5504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25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013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768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9278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4033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788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3052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07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7317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7040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11795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165506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213055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30815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355701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403250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545896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593445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64099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47472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93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56848" y="3840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8890">
            <a:solidFill>
              <a:srgbClr val="19394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0352" y="65379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PROCUREMENT 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6384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→ QUOTATION → DECISION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8778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architecture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530352" y="139903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architecture designed around reasoning, tool use, and verification.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66928" y="1965960"/>
            <a:ext cx="2057400" cy="2606040"/>
          </a:xfrm>
          <a:prstGeom prst="roundRect">
            <a:avLst>
              <a:gd name="adj" fmla="val 7111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86384" y="2212848"/>
            <a:ext cx="841248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2249424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</a:t>
            </a:r>
            <a:endParaRPr lang="en-US" sz="820" dirty="0"/>
          </a:p>
        </p:txBody>
      </p:sp>
      <p:sp>
        <p:nvSpPr>
          <p:cNvPr id="53" name="Shape 51"/>
          <p:cNvSpPr/>
          <p:nvPr/>
        </p:nvSpPr>
        <p:spPr>
          <a:xfrm>
            <a:off x="749808" y="2761488"/>
            <a:ext cx="109728" cy="10972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0976" y="274320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request</a:t>
            </a:r>
            <a:endParaRPr lang="en-US" sz="930" dirty="0"/>
          </a:p>
        </p:txBody>
      </p:sp>
      <p:sp>
        <p:nvSpPr>
          <p:cNvPr id="55" name="Shape 53"/>
          <p:cNvSpPr/>
          <p:nvPr/>
        </p:nvSpPr>
        <p:spPr>
          <a:xfrm>
            <a:off x="749808" y="3154680"/>
            <a:ext cx="109728" cy="10972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50976" y="3136392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quotations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749808" y="3547872"/>
            <a:ext cx="109728" cy="10972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0976" y="3529584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/ constraints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749808" y="3941064"/>
            <a:ext cx="109728" cy="109728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50976" y="3922776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 vendor data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2907792" y="1783080"/>
            <a:ext cx="5650992" cy="3035808"/>
          </a:xfrm>
          <a:prstGeom prst="roundRect">
            <a:avLst>
              <a:gd name="adj" fmla="val 5422"/>
            </a:avLst>
          </a:prstGeom>
          <a:solidFill>
            <a:srgbClr val="0D2232"/>
          </a:solidFill>
          <a:ln w="13970">
            <a:solidFill>
              <a:srgbClr val="57A8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63824" y="2039112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957B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36976" y="207568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3182112" y="242316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Procurement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Reasoning Engine</a:t>
            </a:r>
            <a:endParaRPr lang="en-US" sz="2100" dirty="0"/>
          </a:p>
        </p:txBody>
      </p:sp>
      <p:sp>
        <p:nvSpPr>
          <p:cNvPr id="65" name="Shape 63"/>
          <p:cNvSpPr/>
          <p:nvPr/>
        </p:nvSpPr>
        <p:spPr>
          <a:xfrm>
            <a:off x="5687568" y="2258568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6111A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97296" y="23408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364224" y="23134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 request into criteria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5687568" y="2788920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6111A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97296" y="2871216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7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364224" y="28437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+ compare evidence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5687568" y="3319272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6111A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97296" y="3401568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DECIDE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6364224" y="3374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fit and trade-offs</a:t>
            </a:r>
            <a:endParaRPr lang="en-US" sz="780" dirty="0"/>
          </a:p>
        </p:txBody>
      </p:sp>
      <p:sp>
        <p:nvSpPr>
          <p:cNvPr id="74" name="Shape 72"/>
          <p:cNvSpPr/>
          <p:nvPr/>
        </p:nvSpPr>
        <p:spPr>
          <a:xfrm>
            <a:off x="5687568" y="3849624"/>
            <a:ext cx="2423160" cy="384048"/>
          </a:xfrm>
          <a:prstGeom prst="roundRect">
            <a:avLst>
              <a:gd name="adj" fmla="val 19048"/>
            </a:avLst>
          </a:prstGeom>
          <a:solidFill>
            <a:srgbClr val="06111A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797296" y="393192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6364224" y="390448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every recommendation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8851392" y="1965960"/>
            <a:ext cx="2715768" cy="2606040"/>
          </a:xfrm>
          <a:prstGeom prst="roundRect">
            <a:avLst>
              <a:gd name="adj" fmla="val 5614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070848" y="2212848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144000" y="224942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9034272" y="2761488"/>
            <a:ext cx="109728" cy="10972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35440" y="274320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quotations</a:t>
            </a:r>
            <a:endParaRPr lang="en-US" sz="930" dirty="0"/>
          </a:p>
        </p:txBody>
      </p:sp>
      <p:sp>
        <p:nvSpPr>
          <p:cNvPr id="82" name="Shape 80"/>
          <p:cNvSpPr/>
          <p:nvPr/>
        </p:nvSpPr>
        <p:spPr>
          <a:xfrm>
            <a:off x="9034272" y="3154680"/>
            <a:ext cx="109728" cy="10972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235440" y="31363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Reasons for pass / fail</a:t>
            </a:r>
            <a:endParaRPr lang="en-US" sz="930" dirty="0"/>
          </a:p>
        </p:txBody>
      </p:sp>
      <p:sp>
        <p:nvSpPr>
          <p:cNvPr id="84" name="Shape 82"/>
          <p:cNvSpPr/>
          <p:nvPr/>
        </p:nvSpPr>
        <p:spPr>
          <a:xfrm>
            <a:off x="9034272" y="3547872"/>
            <a:ext cx="109728" cy="10972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235440" y="352958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flags</a:t>
            </a:r>
            <a:endParaRPr lang="en-US" sz="930" dirty="0"/>
          </a:p>
        </p:txBody>
      </p:sp>
      <p:sp>
        <p:nvSpPr>
          <p:cNvPr id="86" name="Shape 84"/>
          <p:cNvSpPr/>
          <p:nvPr/>
        </p:nvSpPr>
        <p:spPr>
          <a:xfrm>
            <a:off x="9034272" y="3941064"/>
            <a:ext cx="109728" cy="10972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235440" y="3922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930" dirty="0"/>
          </a:p>
        </p:txBody>
      </p:sp>
      <p:sp>
        <p:nvSpPr>
          <p:cNvPr id="88" name="Shape 86"/>
          <p:cNvSpPr/>
          <p:nvPr/>
        </p:nvSpPr>
        <p:spPr>
          <a:xfrm>
            <a:off x="9034272" y="4334256"/>
            <a:ext cx="109728" cy="109728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235440" y="4315968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 request</a:t>
            </a:r>
            <a:endParaRPr lang="en-US" sz="930" dirty="0"/>
          </a:p>
        </p:txBody>
      </p:sp>
      <p:sp>
        <p:nvSpPr>
          <p:cNvPr id="90" name="Shape 88"/>
          <p:cNvSpPr/>
          <p:nvPr/>
        </p:nvSpPr>
        <p:spPr>
          <a:xfrm>
            <a:off x="2633472" y="3273552"/>
            <a:ext cx="256032" cy="0"/>
          </a:xfrm>
          <a:prstGeom prst="line">
            <a:avLst/>
          </a:prstGeom>
          <a:noFill/>
          <a:ln w="1778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8577072" y="3273552"/>
            <a:ext cx="237744" cy="0"/>
          </a:xfrm>
          <a:prstGeom prst="line">
            <a:avLst/>
          </a:prstGeom>
          <a:noFill/>
          <a:ln w="17780">
            <a:solidFill>
              <a:srgbClr val="51F7B1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566928" y="4956048"/>
            <a:ext cx="11000232" cy="694944"/>
          </a:xfrm>
          <a:prstGeom prst="roundRect">
            <a:avLst>
              <a:gd name="adj" fmla="val 15789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86384" y="5138928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TRACE</a:t>
            </a:r>
            <a:endParaRPr lang="en-US" sz="760" dirty="0"/>
          </a:p>
        </p:txBody>
      </p:sp>
      <p:sp>
        <p:nvSpPr>
          <p:cNvPr id="94" name="Text 92"/>
          <p:cNvSpPr/>
          <p:nvPr/>
        </p:nvSpPr>
        <p:spPr>
          <a:xfrm>
            <a:off x="2212848" y="51023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2852928" y="5193792"/>
            <a:ext cx="457200" cy="0"/>
          </a:xfrm>
          <a:prstGeom prst="line">
            <a:avLst/>
          </a:prstGeom>
          <a:noFill/>
          <a:ln w="1270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96" name="Text 94"/>
          <p:cNvSpPr/>
          <p:nvPr/>
        </p:nvSpPr>
        <p:spPr>
          <a:xfrm>
            <a:off x="3419856" y="510235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4069080" y="5193792"/>
            <a:ext cx="457200" cy="0"/>
          </a:xfrm>
          <a:prstGeom prst="line">
            <a:avLst/>
          </a:prstGeom>
          <a:noFill/>
          <a:ln w="1270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98" name="Text 96"/>
          <p:cNvSpPr/>
          <p:nvPr/>
        </p:nvSpPr>
        <p:spPr>
          <a:xfrm>
            <a:off x="4645152" y="5102352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5550408" y="5193792"/>
            <a:ext cx="457200" cy="0"/>
          </a:xfrm>
          <a:prstGeom prst="line">
            <a:avLst/>
          </a:prstGeom>
          <a:noFill/>
          <a:ln w="1270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100" name="Text 98"/>
          <p:cNvSpPr/>
          <p:nvPr/>
        </p:nvSpPr>
        <p:spPr>
          <a:xfrm>
            <a:off x="6126480" y="510235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7040880" y="5193792"/>
            <a:ext cx="457200" cy="0"/>
          </a:xfrm>
          <a:prstGeom prst="line">
            <a:avLst/>
          </a:prstGeom>
          <a:noFill/>
          <a:ln w="1270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7626096" y="510235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8412480" y="5193792"/>
            <a:ext cx="457200" cy="0"/>
          </a:xfrm>
          <a:prstGeom prst="line">
            <a:avLst/>
          </a:prstGeom>
          <a:noFill/>
          <a:ln w="1270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104" name="Text 102"/>
          <p:cNvSpPr/>
          <p:nvPr/>
        </p:nvSpPr>
        <p:spPr>
          <a:xfrm>
            <a:off x="8997696" y="51023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7101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465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219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17296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484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239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99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5504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25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013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768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9278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4033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788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3052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07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7317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7040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11795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165506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213055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30815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355701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403250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545896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593445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64099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47472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93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56848" y="3840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8890">
            <a:solidFill>
              <a:srgbClr val="19394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0352" y="65379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PROCUREMENT 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6384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→ QUOTATION → DECISION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8778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buying 20 laptops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530352" y="13990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flow — the point is how the agent reasons, not a real vendor quote.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66928" y="1874520"/>
            <a:ext cx="10991088" cy="576072"/>
          </a:xfrm>
          <a:prstGeom prst="roundRect">
            <a:avLst>
              <a:gd name="adj" fmla="val 19048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8096" y="2002536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" y="2039112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2121408" y="1975104"/>
            <a:ext cx="9098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laptops  •  minimum i5  •  16 GB RAM  •  512 GB SSD  •  budget limit per unit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66928" y="2697480"/>
            <a:ext cx="1115568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280720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1682496" y="2697480"/>
            <a:ext cx="914400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37360" y="28072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740" dirty="0"/>
          </a:p>
        </p:txBody>
      </p:sp>
      <p:sp>
        <p:nvSpPr>
          <p:cNvPr id="58" name="Shape 56"/>
          <p:cNvSpPr/>
          <p:nvPr/>
        </p:nvSpPr>
        <p:spPr>
          <a:xfrm>
            <a:off x="2596896" y="2697480"/>
            <a:ext cx="914400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51760" y="28072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3511296" y="2697480"/>
            <a:ext cx="914400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66160" y="280720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SSD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4425696" y="2697480"/>
            <a:ext cx="1005840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80560" y="280720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740" dirty="0"/>
          </a:p>
        </p:txBody>
      </p:sp>
      <p:sp>
        <p:nvSpPr>
          <p:cNvPr id="64" name="Shape 62"/>
          <p:cNvSpPr/>
          <p:nvPr/>
        </p:nvSpPr>
        <p:spPr>
          <a:xfrm>
            <a:off x="5431536" y="2697480"/>
            <a:ext cx="1170432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0" y="280720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6601968" y="2697480"/>
            <a:ext cx="3977640" cy="438912"/>
          </a:xfrm>
          <a:prstGeom prst="roundRect">
            <a:avLst>
              <a:gd name="adj" fmla="val 8333"/>
            </a:avLst>
          </a:prstGeom>
          <a:solidFill>
            <a:srgbClr val="0D2232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56832" y="280720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EVIDENCE</a:t>
            </a:r>
            <a:endParaRPr lang="en-US" sz="740" dirty="0"/>
          </a:p>
        </p:txBody>
      </p:sp>
      <p:sp>
        <p:nvSpPr>
          <p:cNvPr id="68" name="Shape 66"/>
          <p:cNvSpPr/>
          <p:nvPr/>
        </p:nvSpPr>
        <p:spPr>
          <a:xfrm>
            <a:off x="566928" y="3172968"/>
            <a:ext cx="1115568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1792" y="328269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1682496" y="3172968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737360" y="32826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i5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2596896" y="3172968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51760" y="32826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GB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3511296" y="3172968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66160" y="3282696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 GB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4425696" y="3172968"/>
            <a:ext cx="10058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80560" y="328269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₹55K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5431536" y="3172968"/>
            <a:ext cx="1170432" cy="484632"/>
          </a:xfrm>
          <a:prstGeom prst="roundRect">
            <a:avLst>
              <a:gd name="adj" fmla="val 7547"/>
            </a:avLst>
          </a:prstGeom>
          <a:solidFill>
            <a:srgbClr val="0D3A32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486400" y="3282696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1F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70" dirty="0"/>
          </a:p>
        </p:txBody>
      </p:sp>
      <p:sp>
        <p:nvSpPr>
          <p:cNvPr id="80" name="Shape 78"/>
          <p:cNvSpPr/>
          <p:nvPr/>
        </p:nvSpPr>
        <p:spPr>
          <a:xfrm>
            <a:off x="6601968" y="3172968"/>
            <a:ext cx="39776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656832" y="3282696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Meets every mandatory spec and stays within budget.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566928" y="3703320"/>
            <a:ext cx="1115568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1792" y="38130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1682496" y="3703320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737360" y="38130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i5</a:t>
            </a:r>
            <a:endParaRPr lang="en-US" sz="870" dirty="0"/>
          </a:p>
        </p:txBody>
      </p:sp>
      <p:sp>
        <p:nvSpPr>
          <p:cNvPr id="86" name="Shape 84"/>
          <p:cNvSpPr/>
          <p:nvPr/>
        </p:nvSpPr>
        <p:spPr>
          <a:xfrm>
            <a:off x="2596896" y="3703320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51760" y="38130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GB</a:t>
            </a:r>
            <a:endParaRPr lang="en-US" sz="870" dirty="0"/>
          </a:p>
        </p:txBody>
      </p:sp>
      <p:sp>
        <p:nvSpPr>
          <p:cNvPr id="88" name="Shape 86"/>
          <p:cNvSpPr/>
          <p:nvPr/>
        </p:nvSpPr>
        <p:spPr>
          <a:xfrm>
            <a:off x="3511296" y="3703320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566160" y="3813048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 GB</a:t>
            </a:r>
            <a:endParaRPr lang="en-US" sz="870" dirty="0"/>
          </a:p>
        </p:txBody>
      </p:sp>
      <p:sp>
        <p:nvSpPr>
          <p:cNvPr id="90" name="Shape 88"/>
          <p:cNvSpPr/>
          <p:nvPr/>
        </p:nvSpPr>
        <p:spPr>
          <a:xfrm>
            <a:off x="4425696" y="3703320"/>
            <a:ext cx="10058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80560" y="3813048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₹51K</a:t>
            </a:r>
            <a:endParaRPr lang="en-US" sz="870" dirty="0"/>
          </a:p>
        </p:txBody>
      </p:sp>
      <p:sp>
        <p:nvSpPr>
          <p:cNvPr id="92" name="Shape 90"/>
          <p:cNvSpPr/>
          <p:nvPr/>
        </p:nvSpPr>
        <p:spPr>
          <a:xfrm>
            <a:off x="5431536" y="3703320"/>
            <a:ext cx="1170432" cy="484632"/>
          </a:xfrm>
          <a:prstGeom prst="roundRect">
            <a:avLst>
              <a:gd name="adj" fmla="val 7547"/>
            </a:avLst>
          </a:prstGeom>
          <a:solidFill>
            <a:srgbClr val="3A1C28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0" y="3813048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• RAM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6601968" y="3703320"/>
            <a:ext cx="39776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56832" y="3813048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Cheaper, but violates the 16 GB requirement.</a:t>
            </a:r>
            <a:endParaRPr lang="en-US" sz="820" dirty="0"/>
          </a:p>
        </p:txBody>
      </p:sp>
      <p:sp>
        <p:nvSpPr>
          <p:cNvPr id="96" name="Shape 94"/>
          <p:cNvSpPr/>
          <p:nvPr/>
        </p:nvSpPr>
        <p:spPr>
          <a:xfrm>
            <a:off x="566928" y="4233672"/>
            <a:ext cx="1115568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1792" y="43434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70" dirty="0"/>
          </a:p>
        </p:txBody>
      </p:sp>
      <p:sp>
        <p:nvSpPr>
          <p:cNvPr id="98" name="Shape 96"/>
          <p:cNvSpPr/>
          <p:nvPr/>
        </p:nvSpPr>
        <p:spPr>
          <a:xfrm>
            <a:off x="1682496" y="4233672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737360" y="43434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i7</a:t>
            </a:r>
            <a:endParaRPr lang="en-US" sz="870" dirty="0"/>
          </a:p>
        </p:txBody>
      </p:sp>
      <p:sp>
        <p:nvSpPr>
          <p:cNvPr id="100" name="Shape 98"/>
          <p:cNvSpPr/>
          <p:nvPr/>
        </p:nvSpPr>
        <p:spPr>
          <a:xfrm>
            <a:off x="2596896" y="4233672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651760" y="43434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GB</a:t>
            </a:r>
            <a:endParaRPr lang="en-US" sz="870" dirty="0"/>
          </a:p>
        </p:txBody>
      </p:sp>
      <p:sp>
        <p:nvSpPr>
          <p:cNvPr id="102" name="Shape 100"/>
          <p:cNvSpPr/>
          <p:nvPr/>
        </p:nvSpPr>
        <p:spPr>
          <a:xfrm>
            <a:off x="3511296" y="4233672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566160" y="4343400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TB</a:t>
            </a:r>
            <a:endParaRPr lang="en-US" sz="870" dirty="0"/>
          </a:p>
        </p:txBody>
      </p:sp>
      <p:sp>
        <p:nvSpPr>
          <p:cNvPr id="104" name="Shape 102"/>
          <p:cNvSpPr/>
          <p:nvPr/>
        </p:nvSpPr>
        <p:spPr>
          <a:xfrm>
            <a:off x="4425696" y="4233672"/>
            <a:ext cx="10058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80560" y="434340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₹72K</a:t>
            </a:r>
            <a:endParaRPr lang="en-US" sz="870" dirty="0"/>
          </a:p>
        </p:txBody>
      </p:sp>
      <p:sp>
        <p:nvSpPr>
          <p:cNvPr id="106" name="Shape 104"/>
          <p:cNvSpPr/>
          <p:nvPr/>
        </p:nvSpPr>
        <p:spPr>
          <a:xfrm>
            <a:off x="5431536" y="4233672"/>
            <a:ext cx="1170432" cy="484632"/>
          </a:xfrm>
          <a:prstGeom prst="roundRect">
            <a:avLst>
              <a:gd name="adj" fmla="val 7547"/>
            </a:avLst>
          </a:prstGeom>
          <a:solidFill>
            <a:srgbClr val="3A1C28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486400" y="4343400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6A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• BUDGET</a:t>
            </a:r>
            <a:endParaRPr lang="en-US" sz="870" dirty="0"/>
          </a:p>
        </p:txBody>
      </p:sp>
      <p:sp>
        <p:nvSpPr>
          <p:cNvPr id="108" name="Shape 106"/>
          <p:cNvSpPr/>
          <p:nvPr/>
        </p:nvSpPr>
        <p:spPr>
          <a:xfrm>
            <a:off x="6601968" y="4233672"/>
            <a:ext cx="39776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656832" y="4343400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specs, but exceeds the budget constraint.</a:t>
            </a:r>
            <a:endParaRPr lang="en-US" sz="820" dirty="0"/>
          </a:p>
        </p:txBody>
      </p:sp>
      <p:sp>
        <p:nvSpPr>
          <p:cNvPr id="110" name="Shape 108"/>
          <p:cNvSpPr/>
          <p:nvPr/>
        </p:nvSpPr>
        <p:spPr>
          <a:xfrm>
            <a:off x="566928" y="4764024"/>
            <a:ext cx="1115568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21792" y="487375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70" dirty="0"/>
          </a:p>
        </p:txBody>
      </p:sp>
      <p:sp>
        <p:nvSpPr>
          <p:cNvPr id="112" name="Shape 110"/>
          <p:cNvSpPr/>
          <p:nvPr/>
        </p:nvSpPr>
        <p:spPr>
          <a:xfrm>
            <a:off x="1682496" y="4764024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737360" y="48737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i5</a:t>
            </a:r>
            <a:endParaRPr lang="en-US" sz="870" dirty="0"/>
          </a:p>
        </p:txBody>
      </p:sp>
      <p:sp>
        <p:nvSpPr>
          <p:cNvPr id="114" name="Shape 112"/>
          <p:cNvSpPr/>
          <p:nvPr/>
        </p:nvSpPr>
        <p:spPr>
          <a:xfrm>
            <a:off x="2596896" y="4764024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651760" y="48737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GB</a:t>
            </a:r>
            <a:endParaRPr lang="en-US" sz="870" dirty="0"/>
          </a:p>
        </p:txBody>
      </p:sp>
      <p:sp>
        <p:nvSpPr>
          <p:cNvPr id="116" name="Shape 114"/>
          <p:cNvSpPr/>
          <p:nvPr/>
        </p:nvSpPr>
        <p:spPr>
          <a:xfrm>
            <a:off x="3511296" y="4764024"/>
            <a:ext cx="91440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566160" y="4873752"/>
            <a:ext cx="804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 GB</a:t>
            </a:r>
            <a:endParaRPr lang="en-US" sz="870" dirty="0"/>
          </a:p>
        </p:txBody>
      </p:sp>
      <p:sp>
        <p:nvSpPr>
          <p:cNvPr id="118" name="Shape 116"/>
          <p:cNvSpPr/>
          <p:nvPr/>
        </p:nvSpPr>
        <p:spPr>
          <a:xfrm>
            <a:off x="4425696" y="4764024"/>
            <a:ext cx="10058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480560" y="4873752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₹58K</a:t>
            </a:r>
            <a:endParaRPr lang="en-US" sz="870" dirty="0"/>
          </a:p>
        </p:txBody>
      </p:sp>
      <p:sp>
        <p:nvSpPr>
          <p:cNvPr id="120" name="Shape 118"/>
          <p:cNvSpPr/>
          <p:nvPr/>
        </p:nvSpPr>
        <p:spPr>
          <a:xfrm>
            <a:off x="5431536" y="4764024"/>
            <a:ext cx="1170432" cy="484632"/>
          </a:xfrm>
          <a:prstGeom prst="roundRect">
            <a:avLst>
              <a:gd name="adj" fmla="val 7547"/>
            </a:avLst>
          </a:prstGeom>
          <a:solidFill>
            <a:srgbClr val="0D3A32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486400" y="4873752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51F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870" dirty="0"/>
          </a:p>
        </p:txBody>
      </p:sp>
      <p:sp>
        <p:nvSpPr>
          <p:cNvPr id="122" name="Shape 120"/>
          <p:cNvSpPr/>
          <p:nvPr/>
        </p:nvSpPr>
        <p:spPr>
          <a:xfrm>
            <a:off x="6601968" y="4764024"/>
            <a:ext cx="3977640" cy="484632"/>
          </a:xfrm>
          <a:prstGeom prst="roundRect">
            <a:avLst>
              <a:gd name="adj" fmla="val 7547"/>
            </a:avLst>
          </a:prstGeom>
          <a:solidFill>
            <a:srgbClr val="0A1A27"/>
          </a:solidFill>
          <a:ln w="6350">
            <a:solidFill>
              <a:srgbClr val="19394B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656832" y="4873752"/>
            <a:ext cx="3867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Compliant; slightly higher price than Vendor A.</a:t>
            </a:r>
            <a:endParaRPr lang="en-US" sz="820" dirty="0"/>
          </a:p>
        </p:txBody>
      </p:sp>
      <p:sp>
        <p:nvSpPr>
          <p:cNvPr id="124" name="Shape 122"/>
          <p:cNvSpPr/>
          <p:nvPr/>
        </p:nvSpPr>
        <p:spPr>
          <a:xfrm>
            <a:off x="566928" y="5376672"/>
            <a:ext cx="10991088" cy="685800"/>
          </a:xfrm>
          <a:prstGeom prst="roundRect">
            <a:avLst>
              <a:gd name="adj" fmla="val 16000"/>
            </a:avLst>
          </a:prstGeom>
          <a:solidFill>
            <a:srgbClr val="0D2232"/>
          </a:solidFill>
          <a:ln w="10160">
            <a:solidFill>
              <a:srgbClr val="51F7B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86384" y="5577840"/>
            <a:ext cx="164592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59536" y="5614416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RECOMMENDATION</a:t>
            </a:r>
            <a:endParaRPr lang="en-US" sz="820" dirty="0"/>
          </a:p>
        </p:txBody>
      </p:sp>
      <p:sp>
        <p:nvSpPr>
          <p:cNvPr id="127" name="Text 125"/>
          <p:cNvSpPr/>
          <p:nvPr/>
        </p:nvSpPr>
        <p:spPr>
          <a:xfrm>
            <a:off x="2615184" y="55321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1F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A</a:t>
            </a:r>
            <a:endParaRPr lang="en-US" sz="1400" dirty="0"/>
          </a:p>
        </p:txBody>
      </p:sp>
      <p:sp>
        <p:nvSpPr>
          <p:cNvPr id="128" name="Text 126"/>
          <p:cNvSpPr/>
          <p:nvPr/>
        </p:nvSpPr>
        <p:spPr>
          <a:xfrm>
            <a:off x="3767328" y="5541264"/>
            <a:ext cx="6272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Meets every mandatory specification and offers the lowest compliant price.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7101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465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219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17296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484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239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99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5504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25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013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768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9278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4033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788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3052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07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7317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7040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11795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165506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213055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30815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355701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403250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545896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593445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64099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47472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93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56848" y="3840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8890">
            <a:solidFill>
              <a:srgbClr val="19394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0352" y="65379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PROCUREMENT 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6384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→ QUOTATION → DECISION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8778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it truly agentic?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530352" y="1399032"/>
            <a:ext cx="10744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solves the workflow — not just the question — and can recover when evidence is incomplete.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30352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" y="2331720"/>
            <a:ext cx="274320" cy="274320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41832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65836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658368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request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1883664" y="2898648"/>
            <a:ext cx="219456" cy="0"/>
          </a:xfrm>
          <a:prstGeom prst="line">
            <a:avLst/>
          </a:prstGeom>
          <a:noFill/>
          <a:ln w="1270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2121408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185416" y="2331720"/>
            <a:ext cx="274320" cy="274320"/>
          </a:xfrm>
          <a:prstGeom prst="ellipse">
            <a:avLst/>
          </a:prstGeom>
          <a:solidFill>
            <a:srgbClr val="57A8FF"/>
          </a:solidFill>
          <a:ln w="1016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32888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57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30" dirty="0"/>
          </a:p>
        </p:txBody>
      </p:sp>
      <p:sp>
        <p:nvSpPr>
          <p:cNvPr id="59" name="Text 57"/>
          <p:cNvSpPr/>
          <p:nvPr/>
        </p:nvSpPr>
        <p:spPr>
          <a:xfrm>
            <a:off x="2249424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820" dirty="0"/>
          </a:p>
        </p:txBody>
      </p:sp>
      <p:sp>
        <p:nvSpPr>
          <p:cNvPr id="60" name="Text 58"/>
          <p:cNvSpPr/>
          <p:nvPr/>
        </p:nvSpPr>
        <p:spPr>
          <a:xfrm>
            <a:off x="2249424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criteria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474720" y="2898648"/>
            <a:ext cx="219456" cy="0"/>
          </a:xfrm>
          <a:prstGeom prst="line">
            <a:avLst/>
          </a:prstGeom>
          <a:noFill/>
          <a:ln w="12700">
            <a:solidFill>
              <a:srgbClr val="57A8FF"/>
            </a:solidFill>
            <a:prstDash val="solid"/>
            <a:headEnd type="none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3712464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76472" y="2331720"/>
            <a:ext cx="274320" cy="274320"/>
          </a:xfrm>
          <a:prstGeom prst="ellipse">
            <a:avLst/>
          </a:prstGeom>
          <a:solidFill>
            <a:srgbClr val="957BFF"/>
          </a:solidFill>
          <a:ln w="10160">
            <a:solidFill>
              <a:srgbClr val="957BFF">
                <a:alpha val="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23944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30" dirty="0"/>
          </a:p>
        </p:txBody>
      </p:sp>
      <p:sp>
        <p:nvSpPr>
          <p:cNvPr id="65" name="Text 63"/>
          <p:cNvSpPr/>
          <p:nvPr/>
        </p:nvSpPr>
        <p:spPr>
          <a:xfrm>
            <a:off x="3840480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3840480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quotations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5065776" y="2898648"/>
            <a:ext cx="219456" cy="0"/>
          </a:xfrm>
          <a:prstGeom prst="line">
            <a:avLst/>
          </a:prstGeom>
          <a:noFill/>
          <a:ln w="12700">
            <a:solidFill>
              <a:srgbClr val="957BFF"/>
            </a:solidFill>
            <a:prstDash val="solid"/>
            <a:headEnd type="none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5303520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67528" y="2331720"/>
            <a:ext cx="274320" cy="274320"/>
          </a:xfrm>
          <a:prstGeom prst="ellipse">
            <a:avLst/>
          </a:prstGeom>
          <a:solidFill>
            <a:srgbClr val="FF64D4"/>
          </a:solidFill>
          <a:ln w="10160">
            <a:solidFill>
              <a:srgbClr val="FF64D4">
                <a:alpha val="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15000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6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30" dirty="0"/>
          </a:p>
        </p:txBody>
      </p:sp>
      <p:sp>
        <p:nvSpPr>
          <p:cNvPr id="71" name="Text 69"/>
          <p:cNvSpPr/>
          <p:nvPr/>
        </p:nvSpPr>
        <p:spPr>
          <a:xfrm>
            <a:off x="5431536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5431536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compliance</a:t>
            </a:r>
            <a:endParaRPr lang="en-US" sz="840" dirty="0"/>
          </a:p>
        </p:txBody>
      </p:sp>
      <p:sp>
        <p:nvSpPr>
          <p:cNvPr id="73" name="Shape 71"/>
          <p:cNvSpPr/>
          <p:nvPr/>
        </p:nvSpPr>
        <p:spPr>
          <a:xfrm>
            <a:off x="6656832" y="2898648"/>
            <a:ext cx="219456" cy="0"/>
          </a:xfrm>
          <a:prstGeom prst="line">
            <a:avLst/>
          </a:prstGeom>
          <a:noFill/>
          <a:ln w="12700">
            <a:solidFill>
              <a:srgbClr val="FF64D4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6894576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958584" y="2331720"/>
            <a:ext cx="274320" cy="274320"/>
          </a:xfrm>
          <a:prstGeom prst="ellipse">
            <a:avLst/>
          </a:prstGeom>
          <a:solidFill>
            <a:srgbClr val="FFB35E"/>
          </a:solidFill>
          <a:ln w="10160">
            <a:solidFill>
              <a:srgbClr val="FFB35E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06056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FFB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30" dirty="0"/>
          </a:p>
        </p:txBody>
      </p:sp>
      <p:sp>
        <p:nvSpPr>
          <p:cNvPr id="77" name="Text 75"/>
          <p:cNvSpPr/>
          <p:nvPr/>
        </p:nvSpPr>
        <p:spPr>
          <a:xfrm>
            <a:off x="7022592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</a:t>
            </a:r>
            <a:endParaRPr lang="en-US" sz="820" dirty="0"/>
          </a:p>
        </p:txBody>
      </p:sp>
      <p:sp>
        <p:nvSpPr>
          <p:cNvPr id="78" name="Text 76"/>
          <p:cNvSpPr/>
          <p:nvPr/>
        </p:nvSpPr>
        <p:spPr>
          <a:xfrm>
            <a:off x="7022592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recommendation</a:t>
            </a:r>
            <a:endParaRPr lang="en-US" sz="840" dirty="0"/>
          </a:p>
        </p:txBody>
      </p:sp>
      <p:sp>
        <p:nvSpPr>
          <p:cNvPr id="79" name="Shape 77"/>
          <p:cNvSpPr/>
          <p:nvPr/>
        </p:nvSpPr>
        <p:spPr>
          <a:xfrm>
            <a:off x="8247888" y="2898648"/>
            <a:ext cx="219456" cy="0"/>
          </a:xfrm>
          <a:prstGeom prst="line">
            <a:avLst/>
          </a:prstGeom>
          <a:noFill/>
          <a:ln w="12700">
            <a:solidFill>
              <a:srgbClr val="FFB35E"/>
            </a:solidFill>
            <a:prstDash val="solid"/>
            <a:headEnd type="none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8485632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549640" y="2331720"/>
            <a:ext cx="274320" cy="274320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897112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30" dirty="0"/>
          </a:p>
        </p:txBody>
      </p:sp>
      <p:sp>
        <p:nvSpPr>
          <p:cNvPr id="83" name="Text 81"/>
          <p:cNvSpPr/>
          <p:nvPr/>
        </p:nvSpPr>
        <p:spPr>
          <a:xfrm>
            <a:off x="861364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8613648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evidence</a:t>
            </a:r>
            <a:endParaRPr lang="en-US" sz="840" dirty="0"/>
          </a:p>
        </p:txBody>
      </p:sp>
      <p:sp>
        <p:nvSpPr>
          <p:cNvPr id="85" name="Shape 83"/>
          <p:cNvSpPr/>
          <p:nvPr/>
        </p:nvSpPr>
        <p:spPr>
          <a:xfrm>
            <a:off x="9838944" y="2898648"/>
            <a:ext cx="219456" cy="0"/>
          </a:xfrm>
          <a:prstGeom prst="line">
            <a:avLst/>
          </a:prstGeom>
          <a:noFill/>
          <a:ln w="12700">
            <a:solidFill>
              <a:srgbClr val="51F7B1"/>
            </a:solidFill>
            <a:prstDash val="solid"/>
            <a:headEnd type="none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0076688" y="2240280"/>
            <a:ext cx="1353312" cy="1316736"/>
          </a:xfrm>
          <a:prstGeom prst="roundRect">
            <a:avLst>
              <a:gd name="adj" fmla="val 9028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140696" y="2331720"/>
            <a:ext cx="274320" cy="274320"/>
          </a:xfrm>
          <a:prstGeom prst="ellipse">
            <a:avLst/>
          </a:prstGeom>
          <a:solidFill>
            <a:srgbClr val="E9FBFF"/>
          </a:solidFill>
          <a:ln w="10160">
            <a:solidFill>
              <a:srgbClr val="E9FBFF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488168" y="23865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30" dirty="0"/>
          </a:p>
        </p:txBody>
      </p:sp>
      <p:sp>
        <p:nvSpPr>
          <p:cNvPr id="89" name="Text 87"/>
          <p:cNvSpPr/>
          <p:nvPr/>
        </p:nvSpPr>
        <p:spPr>
          <a:xfrm>
            <a:off x="10204704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</a:t>
            </a:r>
            <a:endParaRPr lang="en-US" sz="820" dirty="0"/>
          </a:p>
        </p:txBody>
      </p:sp>
      <p:sp>
        <p:nvSpPr>
          <p:cNvPr id="90" name="Text 88"/>
          <p:cNvSpPr/>
          <p:nvPr/>
        </p:nvSpPr>
        <p:spPr>
          <a:xfrm>
            <a:off x="10204704" y="3054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confirms</a:t>
            </a:r>
            <a:endParaRPr lang="en-US" sz="840" dirty="0"/>
          </a:p>
        </p:txBody>
      </p:sp>
      <p:sp>
        <p:nvSpPr>
          <p:cNvPr id="91" name="Shape 89"/>
          <p:cNvSpPr/>
          <p:nvPr/>
        </p:nvSpPr>
        <p:spPr>
          <a:xfrm>
            <a:off x="566928" y="3977640"/>
            <a:ext cx="6903720" cy="1261872"/>
          </a:xfrm>
          <a:prstGeom prst="roundRect">
            <a:avLst>
              <a:gd name="adj" fmla="val 10145"/>
            </a:avLst>
          </a:prstGeom>
          <a:solidFill>
            <a:srgbClr val="0D2232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86384" y="4197096"/>
            <a:ext cx="14447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FF64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59536" y="423367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FF6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HANDLING</a:t>
            </a:r>
            <a:endParaRPr lang="en-US" sz="820" dirty="0"/>
          </a:p>
        </p:txBody>
      </p:sp>
      <p:sp>
        <p:nvSpPr>
          <p:cNvPr id="94" name="Text 92"/>
          <p:cNvSpPr/>
          <p:nvPr/>
        </p:nvSpPr>
        <p:spPr>
          <a:xfrm>
            <a:off x="2450592" y="4160520"/>
            <a:ext cx="4553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quote? Conflicting data? Unclear evidence?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786384" y="4581144"/>
            <a:ext cx="6327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agent pauses, identifies the gap, asks for clarification or escalates to a human instead of inventing an answer.</a:t>
            </a:r>
            <a:endParaRPr lang="en-US" sz="1020" dirty="0"/>
          </a:p>
        </p:txBody>
      </p:sp>
      <p:sp>
        <p:nvSpPr>
          <p:cNvPr id="96" name="Shape 94"/>
          <p:cNvSpPr/>
          <p:nvPr/>
        </p:nvSpPr>
        <p:spPr>
          <a:xfrm>
            <a:off x="7735824" y="3977640"/>
            <a:ext cx="3822192" cy="1261872"/>
          </a:xfrm>
          <a:prstGeom prst="roundRect">
            <a:avLst>
              <a:gd name="adj" fmla="val 10145"/>
            </a:avLst>
          </a:prstGeom>
          <a:solidFill>
            <a:srgbClr val="0D2232"/>
          </a:solidFill>
          <a:ln w="10160">
            <a:solidFill>
              <a:srgbClr val="51F7B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73568" y="4197096"/>
            <a:ext cx="135331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046720" y="4233672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SAFETY CONTROL</a:t>
            </a:r>
            <a:endParaRPr lang="en-US" sz="820" dirty="0"/>
          </a:p>
        </p:txBody>
      </p:sp>
      <p:sp>
        <p:nvSpPr>
          <p:cNvPr id="99" name="Text 97"/>
          <p:cNvSpPr/>
          <p:nvPr/>
        </p:nvSpPr>
        <p:spPr>
          <a:xfrm>
            <a:off x="7982712" y="459943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Consequential vendor updates stay behind human approval.</a:t>
            </a:r>
            <a:endParaRPr lang="en-US" sz="1040" dirty="0"/>
          </a:p>
        </p:txBody>
      </p:sp>
      <p:sp>
        <p:nvSpPr>
          <p:cNvPr id="100" name="Text 98"/>
          <p:cNvSpPr/>
          <p:nvPr/>
        </p:nvSpPr>
        <p:spPr>
          <a:xfrm>
            <a:off x="566928" y="56509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 → ACT → VERIFY → RECOVER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7955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27101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7465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2219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6974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17296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6484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1239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599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0749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5504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025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5013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69768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452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9278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4033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8788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93543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8298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3052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7807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12562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17317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2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22860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7040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11795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165506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213055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26060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30815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355701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403250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45079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49834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545896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39" name="Shape 37"/>
          <p:cNvSpPr/>
          <p:nvPr/>
        </p:nvSpPr>
        <p:spPr>
          <a:xfrm>
            <a:off x="0" y="593445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0" y="64099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6000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347472"/>
            <a:ext cx="224028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7620">
            <a:solidFill>
              <a:srgbClr val="19394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931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CHALLENGE 04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56848" y="384048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8890">
            <a:solidFill>
              <a:srgbClr val="19394B">
                <a:alpha val="90000"/>
              </a:srgbClr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0352" y="6537960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AUTONOMOUS PROCUREMENT AGENT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7863840" y="6537960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80" kern="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 → QUOTATION → DECISION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920" y="87782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plan &amp; technology</a:t>
            </a:r>
            <a:endParaRPr lang="en-US" sz="2500" dirty="0"/>
          </a:p>
        </p:txBody>
      </p:sp>
      <p:sp>
        <p:nvSpPr>
          <p:cNvPr id="49" name="Text 47"/>
          <p:cNvSpPr/>
          <p:nvPr/>
        </p:nvSpPr>
        <p:spPr>
          <a:xfrm>
            <a:off x="530352" y="139903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prototype can demonstrate the full agent loop without over-engineering the stack.</a:t>
            </a:r>
            <a:endParaRPr lang="en-US" sz="1220" dirty="0"/>
          </a:p>
        </p:txBody>
      </p:sp>
      <p:sp>
        <p:nvSpPr>
          <p:cNvPr id="50" name="Shape 48"/>
          <p:cNvSpPr/>
          <p:nvPr/>
        </p:nvSpPr>
        <p:spPr>
          <a:xfrm>
            <a:off x="566928" y="20116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31520" y="2221992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" y="22585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LAYER</a:t>
            </a:r>
            <a:endParaRPr lang="en-US" sz="820" dirty="0"/>
          </a:p>
        </p:txBody>
      </p:sp>
      <p:sp>
        <p:nvSpPr>
          <p:cNvPr id="53" name="Text 51"/>
          <p:cNvSpPr/>
          <p:nvPr/>
        </p:nvSpPr>
        <p:spPr>
          <a:xfrm>
            <a:off x="731520" y="2743200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/ Web UI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PDF, email, XLSX upload</a:t>
            </a:r>
            <a:endParaRPr lang="en-US" sz="1020" dirty="0"/>
          </a:p>
        </p:txBody>
      </p:sp>
      <p:sp>
        <p:nvSpPr>
          <p:cNvPr id="54" name="Shape 52"/>
          <p:cNvSpPr/>
          <p:nvPr/>
        </p:nvSpPr>
        <p:spPr>
          <a:xfrm>
            <a:off x="3035808" y="2880360"/>
            <a:ext cx="274320" cy="0"/>
          </a:xfrm>
          <a:prstGeom prst="line">
            <a:avLst/>
          </a:prstGeom>
          <a:noFill/>
          <a:ln w="13970">
            <a:solidFill>
              <a:srgbClr val="38F2FF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337560" y="20116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502152" y="2221992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957B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75304" y="22585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LAYER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3502152" y="2743200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+ structured extraction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for policies &amp; specs</a:t>
            </a:r>
            <a:endParaRPr lang="en-US" sz="1020" dirty="0"/>
          </a:p>
        </p:txBody>
      </p:sp>
      <p:sp>
        <p:nvSpPr>
          <p:cNvPr id="59" name="Shape 57"/>
          <p:cNvSpPr/>
          <p:nvPr/>
        </p:nvSpPr>
        <p:spPr>
          <a:xfrm>
            <a:off x="5806440" y="2880360"/>
            <a:ext cx="274320" cy="0"/>
          </a:xfrm>
          <a:prstGeom prst="line">
            <a:avLst/>
          </a:prstGeom>
          <a:noFill/>
          <a:ln w="13970">
            <a:solidFill>
              <a:srgbClr val="957BFF"/>
            </a:solidFill>
            <a:prstDash val="solid"/>
            <a:headEnd type="none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6108192" y="20116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272784" y="2221992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7A8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5936" y="22585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7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272784" y="2743200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+ scoring engine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vendor lookup API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8577072" y="2880360"/>
            <a:ext cx="274320" cy="0"/>
          </a:xfrm>
          <a:prstGeom prst="line">
            <a:avLst/>
          </a:prstGeom>
          <a:noFill/>
          <a:ln w="13970">
            <a:solidFill>
              <a:srgbClr val="57A8FF"/>
            </a:solidFill>
            <a:prstDash val="solid"/>
            <a:headEnd type="none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878824" y="2011680"/>
            <a:ext cx="2468880" cy="1737360"/>
          </a:xfrm>
          <a:prstGeom prst="roundRect">
            <a:avLst>
              <a:gd name="adj" fmla="val 7368"/>
            </a:avLst>
          </a:prstGeom>
          <a:solidFill>
            <a:srgbClr val="0A1A27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043416" y="2221992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16568" y="225856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9043416" y="2743200"/>
            <a:ext cx="21214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quotes</a:t>
            </a:r>
            <a:endParaRPr lang="en-US" sz="1020" dirty="0"/>
          </a:p>
          <a:p>
            <a:pPr indent="0" marL="0">
              <a:buNone/>
            </a:pPr>
            <a:r>
              <a:rPr lang="en-US" sz="10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trail + approval</a:t>
            </a:r>
            <a:endParaRPr lang="en-US" sz="1020" dirty="0"/>
          </a:p>
        </p:txBody>
      </p:sp>
      <p:sp>
        <p:nvSpPr>
          <p:cNvPr id="69" name="Shape 67"/>
          <p:cNvSpPr/>
          <p:nvPr/>
        </p:nvSpPr>
        <p:spPr>
          <a:xfrm>
            <a:off x="566928" y="4069080"/>
            <a:ext cx="11000232" cy="1188720"/>
          </a:xfrm>
          <a:prstGeom prst="roundRect">
            <a:avLst>
              <a:gd name="adj" fmla="val 10769"/>
            </a:avLst>
          </a:prstGeom>
          <a:solidFill>
            <a:srgbClr val="0D2232"/>
          </a:solidFill>
          <a:ln w="10160">
            <a:solidFill>
              <a:srgbClr val="19394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6384" y="4288536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59536" y="43251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1865376" y="4535424"/>
            <a:ext cx="256032" cy="256032"/>
          </a:xfrm>
          <a:prstGeom prst="ellipse">
            <a:avLst/>
          </a:prstGeom>
          <a:solidFill>
            <a:srgbClr val="38F2FF"/>
          </a:solidFill>
          <a:ln w="1016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08176" y="491032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 requirement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121408" y="4663440"/>
            <a:ext cx="1609344" cy="0"/>
          </a:xfrm>
          <a:prstGeom prst="line">
            <a:avLst/>
          </a:prstGeom>
          <a:noFill/>
          <a:ln w="12700">
            <a:solidFill>
              <a:srgbClr val="19394B">
                <a:alpha val="90000"/>
              </a:srgbClr>
            </a:solidFill>
            <a:prstDash val="dash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3739896" y="4535424"/>
            <a:ext cx="256032" cy="256032"/>
          </a:xfrm>
          <a:prstGeom prst="ellipse">
            <a:avLst/>
          </a:prstGeom>
          <a:solidFill>
            <a:srgbClr val="57A8FF"/>
          </a:solidFill>
          <a:ln w="10160">
            <a:solidFill>
              <a:srgbClr val="57A8FF">
                <a:alpha val="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82696" y="491032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 vendor PDFs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995928" y="4663440"/>
            <a:ext cx="1609344" cy="0"/>
          </a:xfrm>
          <a:prstGeom prst="line">
            <a:avLst/>
          </a:prstGeom>
          <a:noFill/>
          <a:ln w="12700">
            <a:solidFill>
              <a:srgbClr val="19394B">
                <a:alpha val="90000"/>
              </a:srgbClr>
            </a:solidFill>
            <a:prstDash val="dash"/>
            <a:headEnd type="none"/>
            <a:tailEnd type="none"/>
          </a:ln>
        </p:spPr>
      </p:sp>
      <p:sp>
        <p:nvSpPr>
          <p:cNvPr id="78" name="Shape 76"/>
          <p:cNvSpPr/>
          <p:nvPr/>
        </p:nvSpPr>
        <p:spPr>
          <a:xfrm>
            <a:off x="5614416" y="4535424"/>
            <a:ext cx="256032" cy="256032"/>
          </a:xfrm>
          <a:prstGeom prst="ellipse">
            <a:avLst/>
          </a:prstGeom>
          <a:solidFill>
            <a:srgbClr val="957BFF"/>
          </a:solidFill>
          <a:ln w="10160">
            <a:solidFill>
              <a:srgbClr val="957BFF">
                <a:alpha val="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57216" y="491032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extraction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870448" y="4663440"/>
            <a:ext cx="1609344" cy="0"/>
          </a:xfrm>
          <a:prstGeom prst="line">
            <a:avLst/>
          </a:prstGeom>
          <a:noFill/>
          <a:ln w="12700">
            <a:solidFill>
              <a:srgbClr val="19394B">
                <a:alpha val="90000"/>
              </a:srgbClr>
            </a:solidFill>
            <a:prstDash val="dash"/>
            <a:headEnd type="none"/>
            <a:tailEnd type="none"/>
          </a:ln>
        </p:spPr>
      </p:sp>
      <p:sp>
        <p:nvSpPr>
          <p:cNvPr id="81" name="Shape 79"/>
          <p:cNvSpPr/>
          <p:nvPr/>
        </p:nvSpPr>
        <p:spPr>
          <a:xfrm>
            <a:off x="7488936" y="4535424"/>
            <a:ext cx="256032" cy="256032"/>
          </a:xfrm>
          <a:prstGeom prst="ellipse">
            <a:avLst/>
          </a:prstGeom>
          <a:solidFill>
            <a:srgbClr val="FF64D4"/>
          </a:solidFill>
          <a:ln w="10160">
            <a:solidFill>
              <a:srgbClr val="FF64D4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31736" y="491032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compliance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7744968" y="4663440"/>
            <a:ext cx="1609344" cy="0"/>
          </a:xfrm>
          <a:prstGeom prst="line">
            <a:avLst/>
          </a:prstGeom>
          <a:noFill/>
          <a:ln w="12700">
            <a:solidFill>
              <a:srgbClr val="19394B">
                <a:alpha val="90000"/>
              </a:srgbClr>
            </a:solidFill>
            <a:prstDash val="dash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9363456" y="4535424"/>
            <a:ext cx="256032" cy="256032"/>
          </a:xfrm>
          <a:prstGeom prst="ellipse">
            <a:avLst/>
          </a:prstGeom>
          <a:solidFill>
            <a:srgbClr val="51F7B1"/>
          </a:solidFill>
          <a:ln w="10160">
            <a:solidFill>
              <a:srgbClr val="51F7B1">
                <a:alpha val="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906256" y="4910328"/>
            <a:ext cx="1170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recommendation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66928" y="5660136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Prototype success criterion</a:t>
            </a:r>
            <a:endParaRPr lang="en-US" sz="780" dirty="0"/>
          </a:p>
        </p:txBody>
      </p:sp>
      <p:sp>
        <p:nvSpPr>
          <p:cNvPr id="87" name="Text 85"/>
          <p:cNvSpPr/>
          <p:nvPr/>
        </p:nvSpPr>
        <p:spPr>
          <a:xfrm>
            <a:off x="2468880" y="5596128"/>
            <a:ext cx="9098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purchase request goes from raw documents to an explainable, verified recommendation end-to-end.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80467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33502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6537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39572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92608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45643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98678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51713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04748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557784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10819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663854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16889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69924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22960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75995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29030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820656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351008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0881360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1411712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1942064" y="0"/>
            <a:ext cx="0" cy="6858000"/>
          </a:xfrm>
          <a:prstGeom prst="line">
            <a:avLst/>
          </a:prstGeom>
          <a:noFill/>
          <a:ln w="4445">
            <a:solidFill>
              <a:srgbClr val="19394B">
                <a:alpha val="15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0" y="27432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0" y="80467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0" y="133502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0" y="186537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0" y="239572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0" y="292608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0" y="345643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0" y="398678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0" y="4517136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0" y="5047488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0" y="5577840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0" y="6108192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0" y="6638544"/>
            <a:ext cx="12191695" cy="0"/>
          </a:xfrm>
          <a:prstGeom prst="line">
            <a:avLst/>
          </a:prstGeom>
          <a:noFill/>
          <a:ln w="4445">
            <a:solidFill>
              <a:srgbClr val="19394B">
                <a:alpha val="12000"/>
              </a:srgbClr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F2FF"/>
          </a:solidFill>
          <a:ln w="12700">
            <a:solidFill>
              <a:srgbClr val="38F2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66928" y="475488"/>
            <a:ext cx="2834640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12064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ECLIPSE  /  READY TO DEMO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566928" y="1060704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E9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impact</a:t>
            </a:r>
            <a:endParaRPr lang="en-US" sz="2900" dirty="0"/>
          </a:p>
        </p:txBody>
      </p:sp>
      <p:sp>
        <p:nvSpPr>
          <p:cNvPr id="42" name="Text 40"/>
          <p:cNvSpPr/>
          <p:nvPr/>
        </p:nvSpPr>
        <p:spPr>
          <a:xfrm>
            <a:off x="566928" y="167335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8FAA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decisions. Safer compliance. Clearer evidence.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395728"/>
            <a:ext cx="5074920" cy="1005840"/>
          </a:xfrm>
          <a:prstGeom prst="roundRect">
            <a:avLst>
              <a:gd name="adj" fmla="val 12727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" y="2578608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38F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26151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FASTER</a:t>
            </a:r>
            <a:endParaRPr lang="en-US" sz="820" dirty="0"/>
          </a:p>
        </p:txBody>
      </p:sp>
      <p:sp>
        <p:nvSpPr>
          <p:cNvPr id="46" name="Text 44"/>
          <p:cNvSpPr/>
          <p:nvPr/>
        </p:nvSpPr>
        <p:spPr>
          <a:xfrm>
            <a:off x="1938528" y="26060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manual quotation screening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6190488" y="2395728"/>
            <a:ext cx="5074920" cy="1005840"/>
          </a:xfrm>
          <a:prstGeom prst="roundRect">
            <a:avLst>
              <a:gd name="adj" fmla="val 12727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73368" y="2578608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FF64D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6151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FF6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SAFER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7562088" y="26060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Catch missed constraints and anomalies</a:t>
            </a:r>
            <a:endParaRPr lang="en-US" sz="1120" dirty="0"/>
          </a:p>
        </p:txBody>
      </p:sp>
      <p:sp>
        <p:nvSpPr>
          <p:cNvPr id="51" name="Shape 49"/>
          <p:cNvSpPr/>
          <p:nvPr/>
        </p:nvSpPr>
        <p:spPr>
          <a:xfrm>
            <a:off x="566928" y="3730752"/>
            <a:ext cx="5074920" cy="1005840"/>
          </a:xfrm>
          <a:prstGeom prst="roundRect">
            <a:avLst>
              <a:gd name="adj" fmla="val 12727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9808" y="3913632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957B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39502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957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CLEARER</a:t>
            </a:r>
            <a:endParaRPr lang="en-US" sz="820" dirty="0"/>
          </a:p>
        </p:txBody>
      </p:sp>
      <p:sp>
        <p:nvSpPr>
          <p:cNvPr id="54" name="Text 52"/>
          <p:cNvSpPr/>
          <p:nvPr/>
        </p:nvSpPr>
        <p:spPr>
          <a:xfrm>
            <a:off x="1938528" y="39410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why a vendor passes or fails</a:t>
            </a:r>
            <a:endParaRPr lang="en-US" sz="1120" dirty="0"/>
          </a:p>
        </p:txBody>
      </p:sp>
      <p:sp>
        <p:nvSpPr>
          <p:cNvPr id="55" name="Shape 53"/>
          <p:cNvSpPr/>
          <p:nvPr/>
        </p:nvSpPr>
        <p:spPr>
          <a:xfrm>
            <a:off x="6190488" y="3730752"/>
            <a:ext cx="5074920" cy="1005840"/>
          </a:xfrm>
          <a:prstGeom prst="roundRect">
            <a:avLst>
              <a:gd name="adj" fmla="val 12727"/>
            </a:avLst>
          </a:prstGeom>
          <a:solidFill>
            <a:srgbClr val="0A1A27"/>
          </a:solidFill>
          <a:ln w="8890">
            <a:solidFill>
              <a:srgbClr val="19394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73368" y="3913632"/>
            <a:ext cx="987552" cy="274320"/>
          </a:xfrm>
          <a:prstGeom prst="roundRect">
            <a:avLst>
              <a:gd name="adj" fmla="val 26667"/>
            </a:avLst>
          </a:prstGeom>
          <a:solidFill>
            <a:srgbClr val="0D2232"/>
          </a:solidFill>
          <a:ln w="12700">
            <a:solidFill>
              <a:srgbClr val="51F7B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46520" y="3950208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51F7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</a:t>
            </a:r>
            <a:endParaRPr lang="en-US" sz="820" dirty="0"/>
          </a:p>
        </p:txBody>
      </p:sp>
      <p:sp>
        <p:nvSpPr>
          <p:cNvPr id="58" name="Text 56"/>
          <p:cNvSpPr/>
          <p:nvPr/>
        </p:nvSpPr>
        <p:spPr>
          <a:xfrm>
            <a:off x="7562088" y="394106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consequential decisions with humans</a:t>
            </a:r>
            <a:endParaRPr lang="en-US" sz="1120" dirty="0"/>
          </a:p>
        </p:txBody>
      </p:sp>
      <p:sp>
        <p:nvSpPr>
          <p:cNvPr id="59" name="Shape 57"/>
          <p:cNvSpPr/>
          <p:nvPr/>
        </p:nvSpPr>
        <p:spPr>
          <a:xfrm>
            <a:off x="566928" y="5230368"/>
            <a:ext cx="10991088" cy="621792"/>
          </a:xfrm>
          <a:prstGeom prst="roundRect">
            <a:avLst>
              <a:gd name="adj" fmla="val 17647"/>
            </a:avLst>
          </a:prstGeom>
          <a:solidFill>
            <a:srgbClr val="0D2232"/>
          </a:solidFill>
          <a:ln w="10160">
            <a:solidFill>
              <a:srgbClr val="38F2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" y="5440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38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STORY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1810512" y="5376672"/>
            <a:ext cx="9345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E9F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Requirement in → quotations analyzed → non-compliant quotes filtered → best-fit recommendation → human approval</a:t>
            </a:r>
            <a:endParaRPr lang="en-US" sz="1040" dirty="0"/>
          </a:p>
        </p:txBody>
      </p:sp>
      <p:sp>
        <p:nvSpPr>
          <p:cNvPr id="62" name="Text 60"/>
          <p:cNvSpPr/>
          <p:nvPr/>
        </p:nvSpPr>
        <p:spPr>
          <a:xfrm>
            <a:off x="566928" y="61539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E9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874520" y="608990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1F7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procurement agent that does the work — and proves why.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646920" y="6153912"/>
            <a:ext cx="1901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FAA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 • IDEA SUBMISSION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Project Eclipse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Requirement-to-Quotation Procurement System</dc:title>
  <dc:subject>Autonomous Requirement-to-Quotation Procurement System</dc:subject>
  <dc:creator>Project Eclipse</dc:creator>
  <cp:lastModifiedBy>Project Eclipse</cp:lastModifiedBy>
  <cp:revision>1</cp:revision>
  <dcterms:created xsi:type="dcterms:W3CDTF">2026-10-05T11:59:23Z</dcterms:created>
  <dcterms:modified xsi:type="dcterms:W3CDTF">2026-10-05T11:59:23Z</dcterms:modified>
</cp:coreProperties>
</file>